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Play"/>
      <p:regular r:id="rId16"/>
      <p:bold r:id="rId17"/>
    </p:embeddedFont>
    <p:embeddedFont>
      <p:font typeface="Cascadia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scadia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Cascadia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19" Type="http://schemas.openxmlformats.org/officeDocument/2006/relationships/font" Target="fonts/CascadiaMono-bold.fntdata"/><Relationship Id="rId6" Type="http://schemas.openxmlformats.org/officeDocument/2006/relationships/slide" Target="slides/slide2.xml"/><Relationship Id="rId18" Type="http://schemas.openxmlformats.org/officeDocument/2006/relationships/font" Target="fonts/Cascadia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55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41775" y="0"/>
            <a:ext cx="12191700" cy="685800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86868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Heap Sort</a:t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3232" y="1691640"/>
            <a:ext cx="7040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7D2FE"/>
                </a:solidFill>
                <a:latin typeface="Arial"/>
                <a:ea typeface="Arial"/>
                <a:cs typeface="Arial"/>
                <a:sym typeface="Arial"/>
              </a:rPr>
              <a:t>Sorting with a max heap, sorted partition, and O(n log n) time analysis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2331720"/>
            <a:ext cx="2834640" cy="32918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CS 135 - Sorting Algorithm Project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92608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2E8F0"/>
                </a:solidFill>
              </a:rPr>
              <a:t>H</a:t>
            </a:r>
            <a:r>
              <a:rPr b="0" i="0" lang="en-US" sz="17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ow the heap is built, how heapify restores order, and how the driver code proves the algorithm works on different inputs.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3"/>
          <p:cNvCxnSpPr/>
          <p:nvPr/>
        </p:nvCxnSpPr>
        <p:spPr>
          <a:xfrm flipH="1">
            <a:off x="7589520" y="1901952"/>
            <a:ext cx="777240" cy="841248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8641080" y="1901952"/>
            <a:ext cx="777240" cy="841248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flipH="1">
            <a:off x="7040880" y="3310128"/>
            <a:ext cx="548640" cy="850392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7818120" y="3310128"/>
            <a:ext cx="411480" cy="850392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 flipH="1">
            <a:off x="9006840" y="3310128"/>
            <a:ext cx="411480" cy="850392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9646920" y="3310128"/>
            <a:ext cx="548640" cy="850392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8211312" y="1371600"/>
            <a:ext cx="566928" cy="56692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211312" y="14904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315200" y="274320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315200" y="28620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144000" y="274320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144000" y="28620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766560" y="416052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766560" y="427939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001000" y="416052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001000" y="427939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732520" y="416052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732520" y="427939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9966960" y="416052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9966960" y="427939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315200" y="5074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 Heap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Heap Sort Terminology from the Video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21208" y="832104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These terms make the algorithm easier to explain during the video demonstration.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85800" y="1234440"/>
            <a:ext cx="34290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50392" y="136245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Heap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50392" y="1746504"/>
            <a:ext cx="3099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 ordered binary tree. In this project, the array is treated as a complete binary tree.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389120" y="1234440"/>
            <a:ext cx="34290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53712" y="136245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Max heap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53712" y="1746504"/>
            <a:ext cx="3099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Every parent value is greater than or equal to its child values, so the largest value is at the root.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092440" y="1234440"/>
            <a:ext cx="34290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257032" y="136245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Sorted partition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257032" y="1746504"/>
            <a:ext cx="30998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right side of the array grows one value at a time as maximum values are moved into final position.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77240" y="29077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Two main ideas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22960" y="3310128"/>
            <a:ext cx="5257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buildMaxHeap: creates the first max heap from the unsorted array.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heapify: fixes the heap after a swap because only one item may be out of place.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217920" y="3657600"/>
            <a:ext cx="502920" cy="68580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995160" y="3182112"/>
            <a:ext cx="4343400" cy="1417320"/>
          </a:xfrm>
          <a:prstGeom prst="roundRect">
            <a:avLst>
              <a:gd fmla="val 5161" name="adj"/>
            </a:avLst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159752" y="3310128"/>
            <a:ext cx="4014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159752" y="3694176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Once the max heap exists, Heap Sort does not need to search the whole array for the largest value. It is always at the root.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Representing an Array as a Tree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77240" y="1280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Array: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645920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DE68A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645920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212848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2212848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2779776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779776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346704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346704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913632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913632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480560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480560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47488" y="12344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047488" y="13350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17920" y="130759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Index formula: left child = 2i + 1, right child = 2i + 2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5"/>
          <p:cNvCxnSpPr/>
          <p:nvPr/>
        </p:nvCxnSpPr>
        <p:spPr>
          <a:xfrm flipH="1">
            <a:off x="5074920" y="2514600"/>
            <a:ext cx="1005840" cy="777240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5"/>
          <p:cNvCxnSpPr/>
          <p:nvPr/>
        </p:nvCxnSpPr>
        <p:spPr>
          <a:xfrm>
            <a:off x="6355080" y="2514600"/>
            <a:ext cx="960120" cy="777240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5"/>
          <p:cNvCxnSpPr/>
          <p:nvPr/>
        </p:nvCxnSpPr>
        <p:spPr>
          <a:xfrm flipH="1">
            <a:off x="4434840" y="3822192"/>
            <a:ext cx="640080" cy="749808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5"/>
          <p:cNvCxnSpPr/>
          <p:nvPr/>
        </p:nvCxnSpPr>
        <p:spPr>
          <a:xfrm>
            <a:off x="5285232" y="3822192"/>
            <a:ext cx="429768" cy="749808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5"/>
          <p:cNvCxnSpPr/>
          <p:nvPr/>
        </p:nvCxnSpPr>
        <p:spPr>
          <a:xfrm flipH="1">
            <a:off x="6766560" y="3822192"/>
            <a:ext cx="548640" cy="749808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5"/>
          <p:cNvCxnSpPr/>
          <p:nvPr/>
        </p:nvCxnSpPr>
        <p:spPr>
          <a:xfrm>
            <a:off x="7543800" y="3822192"/>
            <a:ext cx="640080" cy="749808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/>
          <p:nvPr/>
        </p:nvSpPr>
        <p:spPr>
          <a:xfrm>
            <a:off x="5897880" y="1965960"/>
            <a:ext cx="566928" cy="56692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897880" y="208483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800600" y="329184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800600" y="341071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040880" y="329184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040880" y="341071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160520" y="457200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160520" y="46908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40680" y="457200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5440680" y="46908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492240" y="457200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492240" y="46908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001000" y="4690872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77240" y="2880360"/>
            <a:ext cx="333756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41832" y="3008376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Complete binary tree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41832" y="3392424"/>
            <a:ext cx="300837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tree fills each level from left to right. This is why the array can represent the tree without using separate node objects.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595360" y="2880360"/>
            <a:ext cx="2651760" cy="1965960"/>
          </a:xfrm>
          <a:prstGeom prst="roundRect">
            <a:avLst>
              <a:gd fmla="val 3721" name="adj"/>
            </a:avLst>
          </a:prstGeom>
          <a:solidFill>
            <a:srgbClr val="FDE68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759952" y="3008376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759952" y="3392424"/>
            <a:ext cx="232257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root is index 0. In a max heap, this is the largest value.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Build Max Heap vs. Heapify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77240" y="1143000"/>
            <a:ext cx="5029200" cy="3886200"/>
          </a:xfrm>
          <a:prstGeom prst="roundRect">
            <a:avLst>
              <a:gd fmla="val 188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941832" y="1271016"/>
            <a:ext cx="4700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buildMaxHeap(array)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41832" y="1655064"/>
            <a:ext cx="4700016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Purpose: convert the whole unsorted array into a max heap.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When used: once, at the beginning.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Time: O(n).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How: start at the last non-leaf node and call heapify moving backward to index 0.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55080" y="1143000"/>
            <a:ext cx="5029200" cy="3886200"/>
          </a:xfrm>
          <a:prstGeom prst="roundRect">
            <a:avLst>
              <a:gd fmla="val 1882" name="adj"/>
            </a:avLst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519672" y="1271016"/>
            <a:ext cx="4700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heapify(array, heapSize, rootIndex)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519672" y="1655064"/>
            <a:ext cx="4700016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Purpose: restore the max-heap property after one value is out of place.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When used: after each extraction/swap.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Time: O(log n).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How: compare parent with children, swap with the largest child, and continue downward.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68680" y="5532120"/>
            <a:ext cx="10515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buildMaxHeap creates the first heap; heapify repairs the heap after each largest value is removed.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Heap Sort Step-by-Step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21208" y="832104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sorted partition grows from right to left.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85800" y="1143000"/>
            <a:ext cx="2450592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50392" y="1271016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Step 1: Build a max heap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50392" y="1655064"/>
            <a:ext cx="212140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largest number moves to the root.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154680" y="1901952"/>
            <a:ext cx="320040" cy="50292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3520440" y="1143000"/>
            <a:ext cx="2450592" cy="22860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685032" y="1271016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Step 2: Swap root with end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685032" y="1655064"/>
            <a:ext cx="212140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Largest value goes to the last unsorted position.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989320" y="1901952"/>
            <a:ext cx="320040" cy="50292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355080" y="1143000"/>
            <a:ext cx="2450592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519672" y="1271016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Step 3: Remove from heap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519672" y="1655064"/>
            <a:ext cx="212140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Treat that last position as sorted.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823960" y="1901952"/>
            <a:ext cx="320040" cy="50292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9189720" y="1143000"/>
            <a:ext cx="2450592" cy="22860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9354312" y="1271016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Step 4: Heapify again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354312" y="1655064"/>
            <a:ext cx="212140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Repair the remaining heap and repeat.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50390" y="361651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Example after moving 9 to the sorted partition: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429000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DE68A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429000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995928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995928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62856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562856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129784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129784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696712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696712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263640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263640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830568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830568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397496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397496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964424" y="3977640"/>
            <a:ext cx="457200" cy="41148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964424" y="407822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995935" y="4571938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heap part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863840" y="457200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43000" y="5559555"/>
            <a:ext cx="9921300" cy="2925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307592" y="5678424"/>
            <a:ext cx="9592056" cy="4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Move the current largest value to the end, shrink the heap, then call heapify because the root might be out of place.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Pseudocode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21208" y="832104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68680" y="1143000"/>
            <a:ext cx="5806440" cy="530352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5" lIns="2775" spcFirstLastPara="1" rIns="2775" wrap="square" tIns="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HEAP_SORT(A):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buildMaxHeap(A)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for end = length(A) - 1 down to 1: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swap A[0] with A[end]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heapSize = end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heapify(A, heapSize, 0)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HEAPIFY(A, heapSize, i):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largest = i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left = 2i + 1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right = 2i + 2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if left child is larger: largest = left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if right child is larger: largest = right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if largest changed: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swap A[i] with A[largest]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50"/>
              <a:buFont typeface="Cascadia Mono"/>
              <a:buNone/>
            </a:pPr>
            <a:r>
              <a:rPr lang="en-US" sz="155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heapify(A, heapSize, largest)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086600" y="1325880"/>
            <a:ext cx="4160520" cy="1143000"/>
          </a:xfrm>
          <a:prstGeom prst="roundRect">
            <a:avLst>
              <a:gd fmla="val 6400" name="adj"/>
            </a:avLst>
          </a:prstGeom>
          <a:solidFill>
            <a:srgbClr val="FDE68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251192" y="1453896"/>
            <a:ext cx="3831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Important point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251192" y="1837944"/>
            <a:ext cx="3831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After each swap, the sorted partition is not included in heapify.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086600" y="2743200"/>
            <a:ext cx="4160520" cy="1143000"/>
          </a:xfrm>
          <a:prstGeom prst="roundRect">
            <a:avLst>
              <a:gd fmla="val 6400" name="adj"/>
            </a:avLst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7251192" y="2871216"/>
            <a:ext cx="3831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Why heapify is fast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251192" y="3255264"/>
            <a:ext cx="3831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It only travels down the height of the tree, which is log n levels.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086600" y="4160520"/>
            <a:ext cx="4160520" cy="1143000"/>
          </a:xfrm>
          <a:prstGeom prst="roundRect">
            <a:avLst>
              <a:gd fmla="val 6400" name="adj"/>
            </a:avLst>
          </a:prstGeom>
          <a:solidFill>
            <a:srgbClr val="DCFCE7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251192" y="4288536"/>
            <a:ext cx="3831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Why repeat n - 1 times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251192" y="4672584"/>
            <a:ext cx="3831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Each pass places one more value into its final sorted position.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Time Complexity Analysis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85800" y="114300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50392" y="127101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Build phase: O(n)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50392" y="1655064"/>
            <a:ext cx="30998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buildMaxHeap processes the tree bottom-up. Even though heapify can be log n, most nodes are near the bottom.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389120" y="114300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553712" y="127101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Heapify: O(log n)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53712" y="1655064"/>
            <a:ext cx="30998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One heapify can move down at most the height of the heap. A binary heap has height log 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092440" y="114300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8257032" y="127101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Extract phase: O(n log n)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257032" y="1655064"/>
            <a:ext cx="30998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There are n - 1 extractions, and each one calls heapify.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68680" y="27889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Total work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280160" y="33375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O(n) + (n - 1) · O(log n)  =  O(n log n)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9"/>
          <p:cNvCxnSpPr/>
          <p:nvPr/>
        </p:nvCxnSpPr>
        <p:spPr>
          <a:xfrm>
            <a:off x="1371600" y="4160520"/>
            <a:ext cx="932688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9"/>
          <p:cNvSpPr/>
          <p:nvPr/>
        </p:nvSpPr>
        <p:spPr>
          <a:xfrm>
            <a:off x="1188725" y="4937748"/>
            <a:ext cx="9784200" cy="594300"/>
          </a:xfrm>
          <a:prstGeom prst="roundRect">
            <a:avLst>
              <a:gd fmla="val 7619" name="adj"/>
            </a:avLst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353312" y="5084064"/>
            <a:ext cx="9454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Heap Sort is O(n log n) because building the first heap is linear, then the algorithm performs n - 1 removals, and each removal may require heapify, which takes O(log n).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Best, Average, Worst, and Space Complexity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21208" y="832104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Heap Sort’s time is predictable compared with some other sorting algorithms.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22960" y="1097280"/>
            <a:ext cx="10515600" cy="658368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005840" y="12801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017520" y="12801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486400" y="128016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22960" y="1755648"/>
            <a:ext cx="105156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005840" y="19385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Best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017520" y="19385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0" y="1938528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Even sorted input still goes through build heap and extraction.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22960" y="2414016"/>
            <a:ext cx="10515600" cy="65836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005840" y="259689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017520" y="259689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486400" y="2596896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Most inputs require repeated heapify operations.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822960" y="3072384"/>
            <a:ext cx="105156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005840" y="325526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Worst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017520" y="325526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486400" y="3255264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heap height limits heapify to log n levels.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22960" y="3730752"/>
            <a:ext cx="10515600" cy="65836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005840" y="3913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Extra Space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017520" y="3913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486400" y="3913632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array is sorted in place.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1097275" y="5523025"/>
            <a:ext cx="10012800" cy="3747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261872" y="5678424"/>
            <a:ext cx="9683496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Selection Sort and Insertion Sort are O(n²) in the average/worst case, so Heap Sort scales better for large inputs.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Driver Code: 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77240" y="114300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Creates multiple arrays with different input patterns.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Runs heapSort on each array.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Prints the original/sorted result for the traced demo.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Counts comparisons and swaps.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Measures runtime in microseconds.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Checks that the result is actually sorted.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989320" y="1143000"/>
            <a:ext cx="5349240" cy="416052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5" lIns="2775" spcFirstLastPara="1" rIns="2775" wrap="square" tIns="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vector&lt;vector&lt;int&gt;&gt; tests = {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{9,4,7,1,3,6,2,8,5},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{1,2,3,4,5,6,7,8,9},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{9,8,7,6,5,4,3,2,1},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{5,1,5,3,5,2,1,4},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{-3,10,-1,0,7,-8,2},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{42}, {}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};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for each test: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heapSort(test)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20"/>
              <a:buFont typeface="Cascadia Mono"/>
              <a:buNone/>
            </a:pPr>
            <a:r>
              <a:rPr lang="en-US" sz="142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print comparisons, swaps, time, sorted?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C++ Code Structure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31520" y="1097280"/>
            <a:ext cx="3566160" cy="1005840"/>
          </a:xfrm>
          <a:prstGeom prst="roundRect">
            <a:avLst>
              <a:gd fmla="val 7273" name="adj"/>
            </a:avLst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896112" y="1225296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heapify(...)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896112" y="1609344"/>
            <a:ext cx="32369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Repairs one subtree after the root is out of place.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526280" y="1097280"/>
            <a:ext cx="3566160" cy="1005840"/>
          </a:xfrm>
          <a:prstGeom prst="roundRect">
            <a:avLst>
              <a:gd fmla="val 7273" name="adj"/>
            </a:avLst>
          </a:prstGeom>
          <a:solidFill>
            <a:srgbClr val="FDE68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4690872" y="1225296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buildMaxHeap(...)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690872" y="1609344"/>
            <a:ext cx="32369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Calls heapify from the last parent node back to the root.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8321040" y="1097280"/>
            <a:ext cx="3017520" cy="1005840"/>
          </a:xfrm>
          <a:prstGeom prst="roundRect">
            <a:avLst>
              <a:gd fmla="val 7273" name="adj"/>
            </a:avLst>
          </a:prstGeom>
          <a:solidFill>
            <a:srgbClr val="DCFCE7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8485632" y="1225296"/>
            <a:ext cx="2688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heapSort(...)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8485632" y="1609344"/>
            <a:ext cx="2688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Builds the heap, then repeatedly extracts the maximum.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914400" y="2560320"/>
            <a:ext cx="10378440" cy="347472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5" lIns="2775" spcFirstLastPara="1" rIns="2775" wrap="square" tIns="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void buildMaxHeap(vector&lt;int&gt;&amp; a, Stats&amp; stats, bool trace) {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for (int i = (int)a.size() / 2 - 1; i &gt;= 0; --i) {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heapify(a, (int)a.size(), i, stats, trace);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}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}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t/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Stats heapSort(vector&lt;int&gt;&amp; a, bool trace = false) {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Stats stats;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buildMaxHeap(a, stats, trace);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for (int end = (int)a.size() - 1; end &gt; 0; --end) {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swap(a[0], a[end]);      // max goes to sorted partition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heapify(a, end, 0, stats, trace);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}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return stats;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60"/>
              <a:buFont typeface="Cascadia Mono"/>
              <a:buNone/>
            </a:pPr>
            <a:r>
              <a:rPr lang="en-US" sz="1360">
                <a:solidFill>
                  <a:srgbClr val="E2E8F0"/>
                </a:solidFill>
                <a:latin typeface="Cascadia Mono"/>
                <a:ea typeface="Cascadia Mono"/>
                <a:cs typeface="Cascadia Mono"/>
                <a:sym typeface="Cascadia Mono"/>
              </a:rPr>
              <a:t>}</a:t>
            </a:r>
            <a:endParaRPr sz="13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777240" y="1234440"/>
            <a:ext cx="3429000" cy="297180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941832" y="136245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Algorithm idea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941832" y="1746504"/>
            <a:ext cx="309981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Heap Sort turns the data into a max heap so the largest value is always easy to access.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389120" y="1234440"/>
            <a:ext cx="3429000" cy="297180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553712" y="136245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553712" y="1746504"/>
            <a:ext cx="309981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It repeatedly swaps the root with the last unsorted value, grows the sorted partition, and heapifies.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8001000" y="1234440"/>
            <a:ext cx="3429000" cy="297180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8165592" y="1362456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165592" y="1746504"/>
            <a:ext cx="309981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buildMaxHeap is O(n), each heapify is O(log n), and total time is O(n log n).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005840" y="525780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Heap Sort is useful when you want predictable O(n log n) performance and in-place sorting.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